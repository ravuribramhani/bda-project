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7" r:id="rId11"/>
    <p:sldId id="268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FC756-57A7-4EB8-8B98-74ADB6929FD4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0E523-6544-479C-8887-9B5004224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E523-6544-479C-8887-9B5004224FB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1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7BBE-9E13-F838-94EB-44A91A4FC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BE93D-0E84-8563-F73A-1741D4865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B069-678A-E649-129D-1FFDB44D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2040-7787-53DE-C804-6C9E3B4C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4A1F-ABEE-6038-B151-907590AD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1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FAF0-49C8-78F3-04E0-9CB0936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901B-698C-5295-3094-441ED7954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D047-4388-9B85-421C-18514EC4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467F-89E1-16BD-7796-E6D2F9B8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4A0A-59AF-2AA5-C9AA-EB3EFED7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0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B753-A7DD-EDE9-27C9-F6BCA63F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1BC4E-CB2D-0F73-C5E2-D19EFEC2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4968-3837-3FE7-3F92-2A4BB481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BD54-319C-9CB0-9DBC-7079C11E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3B41-7348-07CB-E2D9-E6218856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5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F65D-894D-7280-2D94-C21CB336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A262-7935-B487-EAC4-4413CAD5D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85B11-DF84-8A6C-E6D5-401D8CF8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A5839-9D1F-B413-33DD-B8FE73AD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4CA65-BEEA-0D60-D61A-B3E17358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9B64-5117-067C-1F92-DCCE9894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8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18C8-EB16-0642-D12E-189053D8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4694-52AF-C2DD-DF34-4013ABFB8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F1977-4B3A-0354-D603-812E1F16C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37FC0-F522-F41E-6E15-F00E802CF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94DBC-2235-A4DA-DCAC-5DA757179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A2AB5-345A-5977-E2B1-E48D9FB1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46A60-3124-4D36-741F-57F12F5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1EC01-E72D-90EC-CDA1-D72E54CA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4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5986-091D-A0DF-C390-09EC834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9AB47-2AFA-D5E1-0B6E-44D2189A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A91D5-1906-B5A5-F8F8-0BBA2B77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E9F18-92A8-7A30-5F2F-F09369E5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43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6B84A-F527-E06C-9389-0BE35D92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D1668-A53A-1B5C-3166-6D1D57B7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2840D-1B76-03DA-C23C-CD621ED0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95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112E-B25A-7E68-EB70-A9637CCA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1F878-CB4D-3CFF-2F1C-73245D51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B6878-87D9-1B43-83AC-43BD93C17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874E8-4A8B-72CD-FA81-DFD11E48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292A5-EADF-D264-6EEE-D5712AEB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2F0A9-B7F0-F8D1-0981-CE5AA171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85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3ADE-4E0D-552B-FD1B-3192A5B6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05967-86E4-EE9C-4EA1-32C842982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725C-3C0F-D8DE-CB58-C5D406E53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C8DA9-787D-7CEE-D46A-1835017E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E406E-FD2B-348D-81D2-AD44BB56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D8A2D-35C4-D14F-F2AE-6AF26ED9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1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E964-6ABB-0A69-1327-B63A358F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03860-CB63-A57A-8C76-A91B74D4D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0324-AA3C-123B-A232-965B58B5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2B4F-1833-DA20-7F69-1EB7FD42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4A43-013D-8CFF-D7D6-04DC76B8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17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24D0E-6AB9-5617-AD3B-F64F7855A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8034D-6442-4879-03D0-3CBB4F72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5773-9972-9B12-36E9-DB91687D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F3C13-0428-ADA2-86C5-1D5B56B1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7ECB-BF88-537F-F848-DF03AE2D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3E777-08DD-037C-6B7F-E3B6AC6C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B21B2-F2ED-505E-717A-8B494B7D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BB51-56FE-BFF6-1542-BB0ADF7D6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95ED1-AF0E-4338-ACE4-8322B490DC6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5A48-C080-8AFA-BBF1-CB670EF4E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AFBA-5342-BF23-4614-C2D5443E4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09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esearchgate.net/publication/393329480_Machine_Learning_for_Fraud_Detection_in_Financial_Transactions?utm" TargetMode="External"/><Relationship Id="rId7" Type="http://schemas.openxmlformats.org/officeDocument/2006/relationships/hyperlink" Target="https://arxiv.org/abs/2503.10058?utm" TargetMode="External"/><Relationship Id="rId2" Type="http://schemas.openxmlformats.org/officeDocument/2006/relationships/hyperlink" Target="https://ijaseit.insightsociety.org/index.php/ijaseit/article/view/13160?u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6-3417/12/19/9637?utm" TargetMode="External"/><Relationship Id="rId5" Type="http://schemas.openxmlformats.org/officeDocument/2006/relationships/hyperlink" Target="https://www.ijset.in/wp-content/uploads/IJSET_V13_issue6_144.pdf?utm" TargetMode="External"/><Relationship Id="rId4" Type="http://schemas.openxmlformats.org/officeDocument/2006/relationships/hyperlink" Target="https://www.researchgate.net/publication/388724525_Financial_Fraud_Detection_For_Credit_Card_Transactions_using_Apache_Spar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F8A9-4CDB-91D2-963A-00476B34E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8409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Prediction of Money Laundering Activities Using Big Data Analytics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DB76E-6504-2CF3-D357-7530960B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368" y="3289055"/>
            <a:ext cx="9430389" cy="2326219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Raga Amrutha Ratna – 2320030355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Bramhani – 2320030104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Sheetal – 2320030092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– 4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– K Venkateswara Rao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7224C-8273-2634-8798-608FBC698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B898-E372-3952-FBBF-5B602835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77" y="23011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1F1D-F391-3DB3-3ACB-FB60D544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56" y="1460572"/>
            <a:ext cx="10703287" cy="491275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generate massive transaction data daily.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money laundering patterns manually is difficult.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struggle with large-scale, complex financial data.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financial fraud and illicit transactions.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scalable fraud detection systems.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+ Machine Learning can improve detection accuracy.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Supports banks and regulatory bodies.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financial crime risks.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trust in digital financial systems.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A897C-CB68-A6A6-7006-DBAD8BA3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96AA-37ED-F34D-B1F3-31AB1C96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61A6-C288-2E6C-75FC-7B200CED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63" y="1825625"/>
            <a:ext cx="10515600" cy="325573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Goals: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large-scale financial transaction datasets.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transaction patterns.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high-risk transactions and accounts.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Big Data processing pipeline.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capable of fraud prediction.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potential money laundering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61791-85B6-C4C2-AB92-D303CD1B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78F1-6F1B-5413-D8FA-9BF379AF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8CA9-804B-47DE-6FC3-E5D70EC07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81" y="1521941"/>
            <a:ext cx="10961038" cy="4222196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Anti-Money Laundering (AML)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anomaly detection techniques.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fraud detection approaches.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Research Gaps: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big transaction datasets.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positives in rule-based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Big Data frameworks with ML.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AML systems combining distributed processing with predictive ML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8A001-5AF9-6F8F-447C-9CCAC12C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2E50-B163-6C10-922C-06ACBB4A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BB7D-356F-33CB-A2AE-E69DB66D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public and synthetic financial transaction datasets.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data.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distributed processing using Apache Spark.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(amount, frequency, time intervals, sender/receiver).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 for prediction.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ecosystem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7BAF9-4172-4255-FF1A-EAEC14C4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9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B579-0F7A-8CEE-6F29-77BC308F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FA588-B747-1B3B-FD8A-D623C9CD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66299-EC2F-E6F3-9E04-2F06D851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37" y="1816526"/>
            <a:ext cx="6360525" cy="39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8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134F-AA8A-C72C-A8A6-C86A2DA1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&amp; Tools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FA918-EEE2-9BDA-C3AC-EEBD8F9B8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97807B3D-F899-4A62-BA7F-4B710201D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Scala, SQL (HiveQL)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Hadoop, HDFS, Hive, Spark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Spark MLlib (Logistic Regression)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Cleaning, Feature Engineering, Sampling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Hortonworks HDP, Zeppelin, Ambari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VirtualBox, Linux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HDFS Commands, SCP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Synthetic Financial Transaction Data (Fraud Labels) </a:t>
            </a:r>
          </a:p>
        </p:txBody>
      </p:sp>
    </p:spTree>
    <p:extLst>
      <p:ext uri="{BB962C8B-B14F-4D97-AF65-F5344CB8AC3E}">
        <p14:creationId xmlns:p14="http://schemas.microsoft.com/office/powerpoint/2010/main" val="33674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7EBD-7E85-D950-B903-51BEDB5C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6F64-199A-4E49-4D40-9DDD9C12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suspicious transaction patterns.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high-risk accounts.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detection framework.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Big Data processing pipeline.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ML model.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report.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8BCBB-A46C-D5C7-5BFD-D9551242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6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7F7B-2EB0-1BF9-32EF-7D866C06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0FC96-8086-8F38-7B22-E95207CC7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0855A6-581D-B717-E3F3-5FC9A944E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04414" y="1985260"/>
            <a:ext cx="5306937" cy="315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E74BF-F287-9016-9AC9-A3C128BCE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599" y="1571050"/>
            <a:ext cx="6578338" cy="413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2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29AE-ED53-E3B2-8A74-47E0FCEC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FAF2-D50F-8435-6CE2-012E86BEB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ADCB6-888F-A39D-1D5A-B06D9F82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70" y="1564913"/>
            <a:ext cx="5270201" cy="4239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467960-4778-DD1F-0835-9777C2282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80" y="1521941"/>
            <a:ext cx="6094751" cy="455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16FD1F-8D08-D28A-76A9-2D9C68348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52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D28F-2051-63EC-0A2F-4FA57243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0D0C6-C525-35B0-FEF5-CEAF8FED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AA82D-85FA-023D-A81D-76C67CB34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9" y="1873511"/>
            <a:ext cx="5665422" cy="3728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48ABBA-6AD2-B865-6FE6-21E7433C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531" y="1763679"/>
            <a:ext cx="6182195" cy="4251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B2EA6-229C-615C-AC92-66E815014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4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EAB2-DAC0-424A-1B63-232AEE7C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44DC-A348-F855-8C79-7E5A44C83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97206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Detection using Machine Learning – IEEE  </a:t>
            </a:r>
            <a:r>
              <a:rPr lang="en-IN" sz="1800" u="sng" dirty="0">
                <a:hlinkClick r:id="rId2"/>
              </a:rPr>
              <a:t>https://ijaseit.insightsociety.org/index.php/ijaseit/article/view/13160?utm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in Banking – Springer </a:t>
            </a:r>
            <a:r>
              <a:rPr lang="en-IN" sz="1800" u="sng" dirty="0">
                <a:hlinkClick r:id="rId3"/>
              </a:rPr>
              <a:t>https://www.researchgate.net/publication/393329480_Machine_Learning_for_Fraud_Detection_in_Financial_Transactions?utm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Detection using Data Mining – Elsevier </a:t>
            </a:r>
            <a:r>
              <a:rPr lang="en-IN" sz="1800" u="sng" dirty="0">
                <a:hlinkClick r:id="rId4"/>
              </a:rPr>
              <a:t>https://www.researchgate.net/publication/388724525_Financial_Fraud_Detection_For_Credit_Card_Transactions_using_Apache_Spark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 for Financial Analytics – ACM </a:t>
            </a:r>
            <a:r>
              <a:rPr lang="en-IN" sz="1800" u="sng" dirty="0">
                <a:hlinkClick r:id="rId5"/>
              </a:rPr>
              <a:t>https://www.ijset.in/wp-content/uploads/IJSET_V13_issue6_144.pdf?utm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Fraud Detection – IEEE Access </a:t>
            </a:r>
            <a:r>
              <a:rPr lang="en-IN" sz="1800" u="sng" dirty="0">
                <a:hlinkClick r:id="rId6"/>
              </a:rPr>
              <a:t>https://www.mdpi.com/2076-3417/12/19/9637?utm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Applications in Banking Security – Wiley </a:t>
            </a:r>
            <a:r>
              <a:rPr lang="en-IN" sz="1800" u="sng" dirty="0">
                <a:hlinkClick r:id="rId7"/>
              </a:rPr>
              <a:t>https://arxiv.org/abs/2503.10058?utm</a:t>
            </a:r>
            <a:endParaRPr lang="en-IN" sz="1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B53ED-F78D-FCBF-DF5F-215E7A0930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7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B209-D8F3-A366-A15B-210FE628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011" y="2258384"/>
            <a:ext cx="4197647" cy="1638556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582</Words>
  <Application>Microsoft Office PowerPoint</Application>
  <PresentationFormat>Widescreen</PresentationFormat>
  <Paragraphs>82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Identification and Prediction of Money Laundering Activities Using Big Data Analytics</vt:lpstr>
      <vt:lpstr>Introduction &amp; Motivation</vt:lpstr>
      <vt:lpstr>Objectives</vt:lpstr>
      <vt:lpstr>Literature Survey</vt:lpstr>
      <vt:lpstr>Proposed Methodology</vt:lpstr>
      <vt:lpstr>System Architecture</vt:lpstr>
      <vt:lpstr>Technologies &amp; Tools Used</vt:lpstr>
      <vt:lpstr>Expected Results &amp; Deliverables</vt:lpstr>
      <vt:lpstr>Output:</vt:lpstr>
      <vt:lpstr>PowerPoint Presentation</vt:lpstr>
      <vt:lpstr>PowerPoint Presentation</vt:lpstr>
      <vt:lpstr>References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Gullapalli Sheetal</dc:creator>
  <cp:lastModifiedBy>Gullapalli Sheetal</cp:lastModifiedBy>
  <cp:revision>4</cp:revision>
  <dcterms:created xsi:type="dcterms:W3CDTF">2026-02-19T03:24:36Z</dcterms:created>
  <dcterms:modified xsi:type="dcterms:W3CDTF">2026-04-07T08:54:39Z</dcterms:modified>
</cp:coreProperties>
</file>